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1277295" cy="6035040"/>
          </a:xfrm>
          <a:prstGeom prst="rect">
            <a:avLst/>
          </a:prstGeom>
          <a:solidFill>
            <a:srgbClr val="0E142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11002975" cy="5760720"/>
          </a:xfrm>
          <a:prstGeom prst="rect">
            <a:avLst/>
          </a:prstGeom>
          <a:solidFill>
            <a:srgbClr val="0C111C"/>
          </a:solidFill>
          <a:ln w="10160"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6012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AUTONOMOUS TRANSIT MONOGRAPH // VOLUME I // 2026 EDITION</a:t>
            </a:r>
          </a:p>
          <a:p>
            <a:pPr>
              <a:defRPr sz="4400" b="1">
                <a:solidFill>
                  <a:srgbClr val="F8FAFC"/>
                </a:solidFill>
              </a:defRPr>
            </a:pPr>
            <a:r>
              <a:t>YatriQ</a:t>
            </a:r>
          </a:p>
          <a:p>
            <a:pPr>
              <a:defRPr sz="1700" b="1">
                <a:solidFill>
                  <a:srgbClr val="F59E0B"/>
                </a:solidFill>
              </a:defRPr>
            </a:pPr>
            <a:r>
              <a:t>The Authoritative Transit Truth Layer &amp; 3D Transit Corridor Progression Engine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Core Operating Axiom: "Know Your Bus Before It Arrives"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77639"/>
            <a:ext cx="3154680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087367"/>
            <a:ext cx="2788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01. OPERATIONAL MANDATE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16551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Eradicating commuter crowd anxiety, 'ghost buses', and erratic arrival forecasts across dense Indian metropolitan bus networks (DTC, BMTC, BEST, UPSRTC).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977639"/>
            <a:ext cx="3154680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087367"/>
            <a:ext cx="2788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02. CORE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416551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TRACK (Kalman &amp; Map Matching) -&gt; ESTIMATE (Onboard Edge-AI Computer Vision) -&gt; PREDICT (Gradient Boosted Regressors) -&gt; INFORM (Calm Commute UX).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77639"/>
            <a:ext cx="3154680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087367"/>
            <a:ext cx="2788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03. DEMONSTRATION CORRIDOR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416551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Anand Vihar &lt;-&gt; Modipuram Rapid Transit Corridor (~58.2 km, 21 Verified Rapid Transit Stations, Full Monotonic Simulation &amp; Real-World Geometries).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I // TECHNICAL MONOGRAPH // YATRIQ TRANSIT INTELLIGENCE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The Physical-Cyber Transit Dilemma &amp; System Axioms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Why Legacy Fleet Trackers Fail and the TRACK -&gt; ESTIMATE -&gt; PREDICT -&gt; INFORM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584655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50" b="1">
                <a:solidFill>
                  <a:srgbClr val="F59E0B"/>
                </a:solidFill>
              </a:defRPr>
            </a:pPr>
            <a:r>
              <a:t>PAGE 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2304D"/>
          </a:solidFill>
          <a:ln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4800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47548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01. FOUR FAILURE MODES OF LEGACY FLEET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1. Ghost Buses &amp; Static ETA Collapse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Timetable interpolations fail in mixed traffic. Commuters wait for stranded, cancelled, or deadheading vehicles that never arrive.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2. Commuter Crowd Anxiety &amp; Door Mobbing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Zero prior visibility into onboard passenger density causes desperate boarding stampedes while trailing, near-empty feeder buses pass unnoticed.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3. Black-Box Data Fabrication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Conventional apps present raw ML predictions as live GPS fixes without disclosing source authenticity, confidence score, or observation age.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4. Cellular Dead-Zone Freezes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Highway flyovers and underpasses create 4G/5G dropouts, dropping network polling, freezing vehicle blips, and failing commuter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00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02. THE 4-STAGE REMEDIATION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STAGE 1: TRACK (Geospatial Kinematics)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Continuous GPS telemetry ingestion. Enforces monotonic ordering, tolerates jitter via 55m cross-track snapping, and rejects stale/out-of-order pings.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STAGE 2: ESTIMATE (Onboard Edge Computer Vision)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Runs locally on vehicle hardware (Jetson / Pi 4). Estimates passenger density via pixel contours &amp; 3-stage temporal hysteresis without uploading faces or video.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STAGE 3: PREDICT (Hybrid Gradient Regressors)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Forecasts dynamic segment travel times, dwell times, and downstream passenger boarding deltas using historical corridor traffic patterns.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STAGE 4: INFORM (Actionable Calm Commute UX)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Presents commuters with clear FASTEST vs MOST COMFORTABLE decision cards, humanized crowd indicators, and transparent Data Provenance badges.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II // TECHNICAL MONOGRAPH // YATRIQ TRANSIT INTELLIGENCE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The Authoritative Transit Truth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Monotonic Timestamp Sequencing, Conflict Arbitration &amp; Strict Provenance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584655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50" b="1">
                <a:solidFill>
                  <a:srgbClr val="F59E0B"/>
                </a:solidFill>
              </a:defRPr>
            </a:pPr>
            <a:r>
              <a:t>PAGE 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2304D"/>
          </a:solidFill>
          <a:ln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371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103628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MATHEMATICAL INVARIANTS OF THE TRUTH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INVARIANT I: Monotonic Device Time (t_device^(k) &gt; t_device^(k-1)) -&gt; Replayed out-of-order packets from blackspots are safely archived but NEVER overwrite live state.</a:t>
            </a:r>
            <a:br/>
            <a:r>
              <a:t>INVARIANT II: Sensor Primacy Rule -&gt; Fresh physical observations (&lt;30s) always take precedence over ML inferences; predictions never overwrite sensors.</a:t>
            </a:r>
            <a:br/>
            <a:r>
              <a:t>INVARIANT III: Idempotent Deduplication -&gt; Telemetry ingestion applies composite hash keys {device_id, monotonic_seq, t_device} to eliminate duplicate packets.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212080" cy="32461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LOCATION AUTHORITY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Priority 1: Fresh Official GPS (&lt;30s)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LIVE | Confidence: 95-100% | Source: Direct transit authority ITS feed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Priority 2: Fresh Edge Bus GPS (&lt;30s)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LIVE | Confidence: 85-95% | Source: Onboard IoT telemetry unit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Priority 3: Recent Observation (30s-60s)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OBSERVED | Confidence: 70-85% | Source: Cached recent position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Priority 4: Stale Position (60s-300s)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STALE | Flagged clearly on UI with reassuring 'Updating Soon' notice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Priority 5: Deadhead / Disconnected (&gt;300s)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UNAVAILABLE | Vehicle marked unavailable to avoid ghost trips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5242255" cy="32461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72968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CROWD DENSITY AUTHORITY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Tier 1: Live Edge Camera (&lt;60s)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LIVE ONBOARD | Confidence: 90-98% | Onboard OpenCV contour analysis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Tier 2: Onboard Hardware Sensor (&lt;60s)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LIVE SENSOR | Confidence: 85-92% | Optical / Weight sensors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Tier 3: Machine Learning Model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SMART ESTIMATE | Confidence: 70-85% | Gradient Boosted Classifier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Tier 4: Historical Baseline Table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TYPICAL PATTERN | Confidence: 50-70% | Time-of-day stop averages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Tier 5: Fallback / Unknown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UNKNOWN | Confidence: 0% | Marked unverified to commuters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III // TECHNICAL MONOGRAPH // YATRIQ TRANSIT INTELLIGENCE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Edge-AI Vision &amp; Offline Resilience Engineering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Privacy-Preserving Onboard Computer Vision and SQLite WAL Disconnection Tolerance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584655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50" b="1">
                <a:solidFill>
                  <a:srgbClr val="F59E0B"/>
                </a:solidFill>
              </a:defRPr>
            </a:pPr>
            <a:r>
              <a:t>PAGE 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2304D"/>
          </a:solidFill>
          <a:ln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01. ONBOARD COMPUTER VISION &amp; ANTI-FLICKER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1. Zero-Cloud Video Transmission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Raw video frames NEVER leave the vehicle. All processing runs locally on Raspberry Pi 4 / Jetson Nano, guaranteeing 100% commuter privacy under Indian DPDP regulations.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2. Contour Pixel Density Metric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Frames undergo Gaussian blur -&gt; background subtraction -&gt; contour bounding box area estimation to compute cabin occupancy ratio without face recognition.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3. 3-Point Temporal Hysteresis Filter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Raw camera outputs fluctuate with passenger movement. A 3-window filter prevents UI label thrashing:</a:t>
            </a:r>
            <a:br/>
            <a:r>
              <a:t>  O_t = mode(c_{t-2}, c_{t-1}, c_t)</a:t>
            </a:r>
            <a:br/>
            <a:r>
              <a:t>Only shifts category when confirmed across multiple consecutive sample windows.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4. Calm Humanized Density Labels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PLENTY OF SEATS (0-35% occupancy, all seated)</a:t>
            </a:r>
            <a:br/>
            <a:r>
              <a:t>  SEATS FILLING (36-70% occupancy, light aisle)</a:t>
            </a:r>
            <a:br/>
            <a:r>
              <a:t>  FEW SEATS LEFT (71-95% occupancy, dense aisle)</a:t>
            </a:r>
            <a:br/>
            <a:r>
              <a:t>  STANDING ROOM ONLY (&gt;95% crush load)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00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02. SQLITE WAL OFFLINE BUFFER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The Cellular Blackspot Challenge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Buses traversing expressways, rural stretches, and underpasses routinely lose 4G/5G connectivity. Typical systems drop telemetry, creating phantom stalls on dispatch screens.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Edge SQLite WAL Local Storage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During outages, the onboard daemon writes every GPS coordinate and crowd estimate to a local SQLite database configured with Write-Ahead Logging (WAL) for microsecond writes.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Atomic Multi-Record Replay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When connectivity is restored, the agent pushes batches with explicit device_timestamp and server_received_timestamp to /api/v1/devices/buffer-sync.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Historical Audit Protection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The backend preserves replayed pings for ML training but NEVER overrides current live vehicle positions with stale historical pings.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IV // TECHNICAL MONOGRAPH // YATRIQ TRANSIT INTELLIGENCE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Spatial Kinematics &amp; 3D Transit Corridor Mechanics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Anand Vihar &lt;-&gt; Modipuram Corridor (58.2 km, 21 Rapid Transit Stations)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584655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50" b="1">
                <a:solidFill>
                  <a:srgbClr val="F59E0B"/>
                </a:solidFill>
              </a:defRPr>
            </a:pPr>
            <a:r>
              <a:t>PAGE 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2304D"/>
          </a:solidFill>
          <a:ln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6002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103628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GEOSPATIAL NAVIGATION &amp; PROJECTION CALCULUS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1. Haversine Distance: d = 2R * arcsin(sqrt(sin^2(dlat/2) + cos(lat1)*cos(lat2)*sin^2(dlng/2)))  |  Earth Radius R = 6,371 km</a:t>
            </a:r>
            <a:br/>
            <a:r>
              <a:t>2. Cross-Track Error (XTE): XTE = R * arcsin(sin(d_13/R) * sin(bearing_13 - bearing_12))  |  Road Snapping: epsilon &lt;= 55m</a:t>
            </a:r>
            <a:br/>
            <a:r>
              <a:t>3. Corridor Progression Index: P = (Distance along polyline from Terminal A) / (Total Length L_total) in [0.000, 1.000]</a:t>
            </a:r>
            <a:br/>
            <a:r>
              <a:t>4. 3D Isometric Projection: (x_iso, y_iso) = ((x - y) * cos(30 deg), (x + y) * sin(30 deg) - 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6400800" cy="30175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60350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21-STATION RAPID TRANSIT CORRIDOR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TERMINAL 01: Anand Vihar ISBT (Lat 28.6469, Lng 77.3161) [Inter-State Hub / Metro / RRTS]</a:t>
            </a:r>
            <a:br/>
            <a:r>
              <a:t>  -&gt; 02: Sahibabad -&gt; 03: Ghaziabad Terminal -&gt; 04: Guldhar -&gt; 05: Duhai Interchange</a:t>
            </a:r>
            <a:br/>
            <a:r>
              <a:t>  -&gt; 06: Duhai Depot -&gt; 07: Muradnagar -&gt; 08: Modi Nagar South -&gt; 09: Modi Nagar North</a:t>
            </a:r>
            <a:br/>
            <a:r>
              <a:t>  -&gt; 10: Meerut South Interchange -&gt; 11: Partapur -&gt; 12: Rithani -&gt; 13: Shatabdi Nagar</a:t>
            </a:r>
            <a:br/>
            <a:r>
              <a:t>  -&gt; 14: Brahmpuri -&gt; 15: Meerut Central Terminal -&gt; 16: Bhaisali Terminal -&gt; 17: Begumpul</a:t>
            </a:r>
            <a:br/>
            <a:r>
              <a:t>  -&gt; 18: MES Colony -&gt; 19: Daurli -&gt; 20: Meerut North Bypass</a:t>
            </a:r>
            <a:br/>
            <a:r>
              <a:t>TERMINAL 21: Modipuram Depot (Lat 29.0880, Lng 77.7180) [Northern Terminal]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291840"/>
            <a:ext cx="4144975" cy="30175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3401568"/>
            <a:ext cx="377921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3D CORRIDOR RENDERER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703320"/>
            <a:ext cx="377921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F8FAFC"/>
                </a:solidFill>
              </a:defRPr>
            </a:pPr>
            <a:r>
              <a:t>- HTML5 Canvas 3D Engine: Renders an isometric elevated transit track with real-time station nodes, track rails, and animated vehicle blips.</a:t>
            </a:r>
            <a:br/>
            <a:r>
              <a:t>- Interpolated Motion: Smooth 60 FPS transitions between discrete GPS telemetry updates.</a:t>
            </a:r>
            <a:br/>
            <a:r>
              <a:t>- Dynamic Heatmaps: Track segments glow based on passenger density (Green = Plenty of Seats, Amber = Moderate, Red = Full).</a:t>
            </a:r>
            <a:br/>
            <a:r>
              <a:t>- Interactive Station Focus: Clicking any station expands local liveboard arrivals and dwell queues.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V // TECHNICAL MONOGRAPH // YATRIQ TRANSIT INTELLIGENCE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Commuter Decision Engine &amp; Calm UX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Eliminating Commuter Anxiety with Hero Recommendations, Humanized Density &amp; 2m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584655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50" b="1">
                <a:solidFill>
                  <a:srgbClr val="F59E0B"/>
                </a:solidFill>
              </a:defRPr>
            </a:pPr>
            <a:r>
              <a:t>PAGE 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2304D"/>
          </a:solidFill>
          <a:ln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01. ACTIVE CORRIDOR LOAD BALANCING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The 'Bunched Bus' Paradox in India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Two buses on Route 101 frequently arrive 4 minutes apart. The first bus is severely overcrowded (98%), while the trailing bus is nearly empty (30%). Commuters instinctively mob the first bus, aggravating delays.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THE 'FASTEST' RECOMMENDATION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Awarded to the vehicle with minimum ETA to the commuter's stop, provided crowd level does not exceed safety thresholds.</a:t>
            </a:r>
            <a:br/>
            <a:r>
              <a:t>  * Target Commuter: Time-critical passengers, daily office rush.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THE 'MOST COMFORTABLE' RECOMMENDATION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Identifies a trailing vehicle arriving within a delta window (Delta t &lt;= 10 min) with LOW or MEDIUM crowd occupancy.</a:t>
            </a:r>
            <a:br/>
            <a:r>
              <a:t>  * Target Commuter: Elderly, families, long-distance commuters desiring guaranteed seats.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Empirical Transit Impact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Simulations demonstrate an 18-24% reduction in peak-door boarding delay by voluntarily distributing passengers across consecutive buses.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00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02. CALM COMMUTE UX INNOVATIONS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Hero 'Best Choice For You' Card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Eliminates decision fatigue. A single prominent card at the top tells the passenger exactly which bus to take, arrival minutes, and seating comfort in under 2 seconds.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Friendly Humanized Crowd Indicators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Replaces stressful percentages with clear human labels:</a:t>
            </a:r>
            <a:br/>
            <a:r>
              <a:t>  * 🟢 Plenty of Seats | 🟡 Seats Filling | 🟠 Few Seats Left | 🔵 Standing Room Only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Peace-of-Mind 'Remind 2m Before' Ping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Commuters click a friendly bell button to get an alert 2 minutes before the bus arrives, allowing them to pocket their phone and listen to music without staring at screens.</a:t>
            </a:r>
          </a:p>
          <a:p>
            <a:pPr>
              <a:defRPr sz="250"/>
            </a:pP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Offline Schedule &amp; Route Reassurance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Reassuring status badge informs commuters that corridor routes and schedules are saved offline so connectivity blackouts never cause uncertainty.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VI // TECHNICAL MONOGRAPH // YATRIQ TRANSIT INTELLIGENCE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Empirical Verification, Fault Tolerance &amp; Bill of Materials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13 Automated Verification Suites, ML Drift Circuit Breakers &amp; Full System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584655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50" b="1">
                <a:solidFill>
                  <a:srgbClr val="F59E0B"/>
                </a:solidFill>
              </a:defRPr>
            </a:pPr>
            <a:r>
              <a:t>PAGE 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2304D"/>
          </a:solidFill>
          <a:ln>
            <a:solidFill>
              <a:srgbClr val="2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00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01. VERIFICATION TEST MATRIX &amp; FAULT TOLERANCE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test_truth_engine.py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Validates monotonic ordering, deduplication, and single authoritative state.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test_edge_offline.py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Simulates 15-minute cellular blackout, verifies SQLite buffering &amp; replay sync.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test_crowd.py &amp; test_geo.py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Verifies 3-point hysteresis thresholds, Haversine accuracy, and 55m XTE bounds.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test_model_drift_and_baseline.py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Validates ML circuit breaker: falls back to baseline if error exceeds 3 sigma.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test_provenance_and_failures.py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Rigorous chaos tests: dead camera feeds, out-of-order pings, clock skew tolerances.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006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02. ARCHITECTURAL BILL OF MATERIALS (BOM)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Core Cloud Backend: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Python 3.12, FastAPI, Uvicorn, SQLAlchemy 2.0, PostgreSQL &amp; SQLite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Edge Compute Tier: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Raspberry Pi 4 (4GB) / NVIDIA Jetson Nano, RTSP IP Cabin Cameras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Computer Vision Engine: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OpenCV 4.9 headless, local contour background subtraction, zero cloud video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Machine Learning Models: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Scikit-learn 1.4 (RandomForest Classifier, GradientBoosting Regressor)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Web Command Radar: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React 18, TypeScript, HTML5 Canvas 3D Isometric Engine, Vite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Passenger Mobile App: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Flutter 3.x, Riverpod, Dio, WebSockets, English/Hindi localization</a:t>
            </a:r>
          </a:p>
          <a:p>
            <a:pPr>
              <a:defRPr sz="200"/>
            </a:pP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DevOps &amp; Messaging: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Docker Compose, Mosquitto MQTT, TimescaleDB / SQLite WAL, Pytest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