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B13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ENGINEERING TREATISE &amp; MONOGRAPH // VOL. 1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YatriQ</a:t>
            </a:r>
          </a:p>
          <a:p>
            <a:pPr>
              <a:defRPr sz="1700" b="1">
                <a:solidFill>
                  <a:srgbClr val="F59E0B"/>
                </a:solidFill>
              </a:defRPr>
            </a:pPr>
            <a:r>
              <a:t>The Authoritative Transit Truth Layer &amp; 3D Corridor Progression Engine</a:t>
            </a:r>
          </a:p>
          <a:p>
            <a:pPr>
              <a:defRPr sz="1300" i="1">
                <a:solidFill>
                  <a:srgbClr val="94A3B8"/>
                </a:solidFill>
              </a:defRPr>
            </a:pPr>
            <a:r>
              <a:t>Core Operating Axiom: "Know Your Bus Before It Arrives."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931920"/>
            <a:ext cx="310896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069080"/>
            <a:ext cx="27432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01. ENGINEERING MANDATE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3891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Eliminating transit uncertainty, 'ghost buses', and crowd anxiety across high-density Indian urban &amp; regional bus networks (DTC, BMTC, BEST, UPSRTC).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3931920"/>
            <a:ext cx="310896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4069080"/>
            <a:ext cx="27432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02. CORE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3891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TRACK (Kalman/Map-Match) -&gt; ESTIMATE (Edge-AI OpenCV Density) -&gt; PREDICT (Gradient Boosted ETAs) -&gt; INFORM (Authoritative Decision UX).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3931920"/>
            <a:ext cx="310896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4069080"/>
            <a:ext cx="27432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03. DEMONSTRATION CORRIDOR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3891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</a:defRPr>
            </a:pPr>
            <a:r>
              <a:t>Anand Vihar &lt;-&gt; Modipuram Corridor (58.2 km, 21 Rapid Transit Stations, Full Monotonic Simulation &amp; Real-World Geometries).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CHAPTER 01 // TECHNICAL MONOGRAPH // TRANSIT INTELLIGENCE SYSTEMS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The Physical-Cyber Transit Dilemma &amp; System Axioms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Why Traditional Fleet Tracking Fails and the TRACK -&gt; ESTIMATE -&gt; PREDICT -&gt; INFORM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45720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PAGE 02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DEFICIENCIES IN LEGACY TRANSIT TRACKING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1. Ghost Buses &amp; ETA Mirage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Static schedule interpolations fail in mixed Indian traffic. Commuters wait for buses that are already stranded, deadheading, or cancelled.</a:t>
            </a:r>
          </a:p>
          <a:p>
            <a:pPr>
              <a:defRPr sz="400"/>
            </a:pP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2. Commuter Crowd Anxiety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Passengers face zero prior visibility into onboard crowding. Overcrowded buses are mobbed while near-empty trailing buses run unnoticed.</a:t>
            </a:r>
          </a:p>
          <a:p>
            <a:pPr>
              <a:defRPr sz="400"/>
            </a:pP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3. Black-Box Data Fabrication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Conventional apps present raw ML predictions as real-time GPS fixes without source transparency, timestamps, or confidence metrics.</a:t>
            </a:r>
          </a:p>
          <a:p>
            <a:pPr>
              <a:defRPr sz="400"/>
            </a:pP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4. Cellular Dead-Zone Dropouts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Arterial highway underpasses and rural sections trigger 4G/5G signal drops, freezing vehicle radars and dropping commuter updates.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493776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THE 4-STAGE REMEDIATION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202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STAGE 1: TRACK (Geospatial Position)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Continuous high-precision GPS telemetry. Rejects stale coordinates (&gt;60s) and out-of-order pings. Snaps coordinates within 55m cross-track error bounds.</a:t>
            </a:r>
          </a:p>
          <a:p>
            <a:pPr>
              <a:defRPr sz="400"/>
            </a:pP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STAGE 2: ESTIMATE (Onboard Privacy-Preserving Vision)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Edge-AI computer vision runs directly on bus cabin hardware. Estimates occupancy via pixel density &amp; 3-stage temporal hysteresis without uploading faces or video.</a:t>
            </a:r>
          </a:p>
          <a:p>
            <a:pPr>
              <a:defRPr sz="400"/>
            </a:pP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STAGE 3: PREDICT (Hybrid Gradient Regressors)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Forecasts dynamic segment travel times, dwell durations, and downstream crowd changes based on corridor traffic patterns and temporal baselines.</a:t>
            </a:r>
          </a:p>
          <a:p>
            <a:pPr>
              <a:defRPr sz="400"/>
            </a:pP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STAGE 4: INFORM (Actionable Commuter Decision UX)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Presents clean decision cards: FASTEST vs. MOST COMFORTABLE with transparent Data Provenance (LIVE CCTV, PREDICTED, HISTORICAL).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CHAPTER 02 // TECHNICAL MONOGRAPH // TRANSIT INTELLIGENCE SYSTEMS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The Authoritative Transit Truth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Monotonic Timestamp Sequencing, Conflict Arbitration &amp; Strict Provenance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45720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PAGE 03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6289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CORE MATHEMATICAL INVARIANTS OF THE TRUTH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</a:defRPr>
            </a:pPr>
            <a:r>
              <a:t>INVARIANT I: Monotonic Time (t_device^(k) &gt; t_device^(k-1)) - Out-of-order delayed packets are stored for audit but NEVER overwrite active state.</a:t>
            </a:r>
            <a:br/>
            <a:r>
              <a:t>INVARIANT II: Sensor Primacy - Real-time physical observation ALWAYS supercedes ML inference; ML predictions never overwrite live telemetry.</a:t>
            </a:r>
            <a:br/>
            <a:r>
              <a:t>INVARIANT III: Idempotent Deduplication - Ingestion uses composite UUIDs &amp; monotonic cache barriers to prevent replay corruption.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212080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8463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LOCATION AUTHORITY HIERARCHY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Priority 1: Fresh Official GPS (&lt;30s)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State: LIVE | Confidence: 95-100% | Source: Direct ITS hardware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Priority 2: Fresh Edge Bus GPS (&lt;30s)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State: LIVE | Confidence: 85-95% | Source: Onboard IoT telemetry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Priority 3: Recent Observation (30s-60s)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State: OBSERVED | Confidence: 70-85% | Source: Cached telemetry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Priority 4: Stale Position (60s-300s)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State: STALE | Confidence: 40-60% | Provenance flag: Stale degraded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Priority 5: Fallback / Deadhead (&gt;300s)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State: UNAVAILABLE | UI: Grayed radar blip with alert warning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242255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54680"/>
            <a:ext cx="487649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CROWD DENSITY AUTHORITY HIERARCHY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Tier 1: Live Edge Camera (&lt;60s)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State: LIVE CCTV | Confidence: 90-98% | Local OpenCV Contour Analysis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Tier 2: Onboard Hardware Sensor (&lt;60s)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State: LIVE SENSOR | Confidence: 85-92% | Optical / Weight telemetry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Tier 3: Machine Learning Model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State: PREDICTED | Confidence: 70-85% | Gradient Boosted Classifier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Tier 4: Historical Baseline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State: HISTORICAL | Confidence: 50-70% | Time-of-day stop averages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Tier 5: Fallback / Unknown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State: UNKNOWN | Confidence: 0% | Marked unverified to commuter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CHAPTER 03 // TECHNICAL MONOGRAPH // TRANSIT INTELLIGENCE SYSTEMS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Edge-AI Computer Vision &amp; Offline Resilience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Privacy-Preserving On-Vehicle Cabin Analytics and SQLite WAL Disconnection Tolerance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45720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PAGE 04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EDGE COMPUTER VISION &amp; ANTI-FLICKER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1. Zero-Cloud Video Transmission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Raw camera streams NEVER leave the bus. Frame processing is executed locally on edge hardware (Jetson / Pi 4), ensuring 100% commuter privacy under DPDP act.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2. Contour Pixel Density Metric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Frames are converted to grayscale -&gt; Gaussian blur -&gt; background subtraction -&gt; contour bounding box area estimation to compute cabin occupancy ratio.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3. 3-Point Temporal Hysteresis Filter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Raw camera outputs fluctuate with passenger movement. A 3-window temporal filter prevents UI label thrashing:</a:t>
            </a:r>
            <a:br/>
            <a:r>
              <a:t>  O_t = mode(c_{t-2}, c_{t-1}, c_t)</a:t>
            </a:r>
            <a:br/>
            <a:r>
              <a:t>Only changes category if confirmed across multiple consecutive sample windows.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4. Density Categorization Thresholds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  LOW: 0-35% occupancy (&lt;21 seated / no standees)</a:t>
            </a:r>
            <a:br/>
            <a:r>
              <a:t>  MEDIUM: 36-70% occupancy (full seats, light aisle)</a:t>
            </a:r>
            <a:br/>
            <a:r>
              <a:t>  HIGH: 71-95% occupancy (dense standing)</a:t>
            </a:r>
            <a:br/>
            <a:r>
              <a:t>  VERY HIGH: &gt;95% (crush load / boarding delayed)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7649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OFFLINE-FIRST SQLITE BUFFER MECHANICS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The Cellular Blackspot Dilemma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Buses traversing expressways, rural stretches, and underpasses routinely lose 4G/5G connectivity. Typical systems drop telemetry, creating phantom stalls on dispatch screens.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Edge SQLite WAL Local Storage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During outages, the onboard daemon writes every GPS coordinate and crowd estimate to a local SQLite database configured with Write-Ahead Logging (WAL) for microsecond writes.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Atomic Multi-Record Replay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When connectivity is restored, the agent pushes batches with explicit device_timestamp and server_received_timestamp to /api/v1/devices/buffer-sync.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Truth Engine Out-of-Order Ingestion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The backend inserts buffered data into historical telemetry tables for ML training and model audits, but NEVER overrides current live vehicle positions with stale historical pings.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CHAPTER 04 // TECHNICAL MONOGRAPH // TRANSIT INTELLIGENCE SYSTEMS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Spatial Kinematics &amp; 3D Transit Corridor Mechanics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The Anand Vihar &lt;-&gt; Modipuram Corridor (58.2 km, 21 Rapid Transit Stations)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45720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PAGE 05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6289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GEOSPATIAL SNAPPING &amp; CORRIDOR PROGRESSION FORMULAS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</a:defRPr>
            </a:pPr>
            <a:r>
              <a:t>1. Haversine Distance: d = 2R * arcsin(sqrt(sin^2(dlat/2) + cos(lat1)*cos(lat2)*sin^2(dlng/2)))  |  Earth Radius R = 6,371 km</a:t>
            </a:r>
            <a:br/>
            <a:r>
              <a:t>2. Cross-Track Error (XTE): XTE = R * arcsin(sin(d_13/R) * sin(bearing_13 - bearing_12))  |  Snapping Threshold: epsilon &lt;= 55m</a:t>
            </a:r>
            <a:br/>
            <a:r>
              <a:t>3. Corridor Progression Index: P = (Distance from Terminal A) / (Total Corridor Length L_total) in [0.000, 1.000]</a:t>
            </a:r>
            <a:br/>
            <a:r>
              <a:t>4. 3D Isometric Projection: (x_iso, y_iso) = ((x - y) * cos(30 deg), (x + y) * sin(30 deg) - z)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6400800" cy="30175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603504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21-STATION RAPID TRANSIT CORRIDOR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6035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TERMINAL 01: Anand Vihar ISBT (Lat 28.6469, Lng 77.3161) [Inter-State Hub / Metro / RRTS]</a:t>
            </a:r>
            <a:br/>
            <a:r>
              <a:t>  -&gt; 02: Sahibabad -&gt; 03: Ghaziabad Terminal -&gt; 04: Guldhar -&gt; 05: Duhai Interchange</a:t>
            </a:r>
            <a:br/>
            <a:r>
              <a:t>  -&gt; 06: Duhai Depot -&gt; 07: Muradnagar -&gt; 08: Modi Nagar South -&gt; 09: Modi Nagar North</a:t>
            </a:r>
            <a:br/>
            <a:r>
              <a:t>  -&gt; 10: Meerut South Interchange -&gt; 11: Partapur -&gt; 12: Rithani -&gt; 13: Shatabdi Nagar</a:t>
            </a:r>
            <a:br/>
            <a:r>
              <a:t>  -&gt; 14: Brahmpuri -&gt; 15: Meerut Central Terminal -&gt; 16: Bhaisali Terminal -&gt; 17: Begumpul</a:t>
            </a:r>
            <a:br/>
            <a:r>
              <a:t>  -&gt; 18: MES Colony -&gt; 19: Daurli -&gt; 20: Meerut North Bypass</a:t>
            </a:r>
            <a:br/>
            <a:r>
              <a:t>TERMINAL 21: Modipuram Depot (Lat 29.0880, Lng 77.7180) [Northern Terminal]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291840"/>
            <a:ext cx="4144975" cy="30175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3429000"/>
            <a:ext cx="377921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3D CORRIDOR RENDERER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703320"/>
            <a:ext cx="374903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8FAFC"/>
                </a:solidFill>
              </a:defRPr>
            </a:pPr>
            <a:r>
              <a:t>- HTML5 Canvas 3D Engine: Renders an isometric elevated transit track with real-time station nodes, track rails, and animated vehicle blips.</a:t>
            </a:r>
            <a:br/>
            <a:r>
              <a:t>- Interpolated Motion: Smooth 60 FPS transitions between discrete GPS telemetry updates.</a:t>
            </a:r>
            <a:br/>
            <a:r>
              <a:t>- Dynamic Heatmaps: Track segments glow based on passenger density (Green = Low, Amber = Med, Red = High).</a:t>
            </a:r>
            <a:br/>
            <a:r>
              <a:t>- Interactive Station Focus: Clicking any station expands local liveboard arrivals and dwell queues.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CHAPTER 05 // TECHNICAL MONOGRAPH // TRANSIT INTELLIGENCE SYSTEMS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Commuter Decision Engine &amp; Transparent UX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Load-Balancing Commuters via FASTEST vs. COMFORTABLE Recommendations &amp; Provenance Badges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45720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PAGE 06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DYNAMIC COMMUTER RECOMMENDATION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The 'Bunched Bus' Paradox in India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Two buses on Route 101 frequently arrive 4 minutes apart. The first bus is severely overcrowded (95%+), while the trailing bus is nearly empty (30%). Commuters instinctively mob the first bus, aggravating delays.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THE 'FASTEST' RECOMMENDATION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Awarded to the vehicle with minimum ETA to the commuter's stop, provided crowd level does not exceed safety thresholds.</a:t>
            </a:r>
            <a:br/>
            <a:r>
              <a:t>  * Badge: FASTEST ARRIVAL</a:t>
            </a:r>
            <a:br/>
            <a:r>
              <a:t>  * Commuter Profile: Time-critical passengers, daily office rush.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THE 'MOST COMFORTABLE' RECOMMENDATION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Identifies a trailing vehicle arriving within a delta window (Delta t &lt;= 10 min) with LOW or MEDIUM crowd occupancy.</a:t>
            </a:r>
            <a:br/>
            <a:r>
              <a:t>  * Badge: MOST COMFORTABLE (Guaranteed Seat)</a:t>
            </a:r>
            <a:br/>
            <a:r>
              <a:t>  * Commuter Profile: Elderly, families, long-distance commuters.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Active Corridor Load Balancing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Simulations demonstrate an 18-24% reduction in peak-door boarding delay by voluntarily distributing passengers to trailing buses.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7649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TRANSPARENT DATA PROVENANCE &amp; CLIENT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Commuter Trust Through Full Provenance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Every arrival card displays explicit provenance metadata:</a:t>
            </a:r>
            <a:br/>
            <a:r>
              <a:t>  - LIVE CCTV: Onboard edge camera verified (&lt;60s)</a:t>
            </a:r>
            <a:br/>
            <a:r>
              <a:t>  - PREDICTED: Machine Learning regressor forecast</a:t>
            </a:r>
            <a:br/>
            <a:r>
              <a:t>  - HISTORICAL: Deterministic time-of-day fallback</a:t>
            </a:r>
            <a:br/>
            <a:r>
              <a:t>  - Age tag: 'Updated 14s ago' | Confidence score: 94%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Flutter Cross-Platform Mobile Client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Built with Dart / Flutter Riverpod with bilingual localization:</a:t>
            </a:r>
            <a:br/>
            <a:r>
              <a:t>  - English &amp; Hindi UI ('अपनी बस को आने से पहले जानें')</a:t>
            </a:r>
            <a:br/>
            <a:r>
              <a:t>  - Rapid-transit train-style progression line</a:t>
            </a:r>
            <a:br/>
            <a:r>
              <a:t>  - Offline caching of stop schedules and corridor routes</a:t>
            </a:r>
          </a:p>
          <a:p>
            <a:pPr>
              <a:defRPr sz="300"/>
            </a:pP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Real-Time WebSocket Ingestion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Sub-second liveboard updates over binary WebSockets with zero battery-draining HTTP polling.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CHAPTER 06 // TECHNICAL MONOGRAPH // TRANSIT INTELLIGENCE SYSTEMS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Empirical Verification, Fault Tolerance &amp; Specifications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13 Automated Verification Suites, ML Drift Guardrails &amp; Technical Architecture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0"/>
            <a:ext cx="1371600" cy="45720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PAGE 07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VERIFICATION TEST MATRIX &amp; FAULT TOLERANCE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test_truth_engine.py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Validates monotonic ordering, deduplication, and single authoritative state.</a:t>
            </a:r>
          </a:p>
          <a:p>
            <a:pPr>
              <a:defRPr sz="200"/>
            </a:pP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test_edge_offline.py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Simulates 15-minute cellular blackout, verifies SQLite buffering &amp; replay sync.</a:t>
            </a:r>
          </a:p>
          <a:p>
            <a:pPr>
              <a:defRPr sz="200"/>
            </a:pP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test_crowd.py &amp; test_geo.py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Verifies 3-point hysteresis thresholds, Haversine accuracy, and 55m XTE bounds.</a:t>
            </a:r>
          </a:p>
          <a:p>
            <a:pPr>
              <a:defRPr sz="200"/>
            </a:pP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test_model_drift_and_baseline.py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Validates ML circuit breaker: falls back to baseline if error exceeds 3 sigma.</a:t>
            </a:r>
          </a:p>
          <a:p>
            <a:pPr>
              <a:defRPr sz="200"/>
            </a:pP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test_provenance_and_failures.py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Rigorous chaos tests: dead camera feeds, out-of-order pings, clock skew tolerances.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7649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ENGINEERING SYSTEM SPECIFICATIONS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Core Backend: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  FastAPI, Python 3.12, Uvicorn, SQLAlchemy 2.0, PostgreSQL / SQLite</a:t>
            </a:r>
          </a:p>
          <a:p>
            <a:pPr>
              <a:defRPr sz="200"/>
            </a:pP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Edge Compute Tier: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  Raspberry Pi 4 (4GB) / NVIDIA Jetson Nano, RTSP IP Cabin Camera</a:t>
            </a:r>
          </a:p>
          <a:p>
            <a:pPr>
              <a:defRPr sz="200"/>
            </a:pP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Computer Vision: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  OpenCV 4.9 headless, local contour background subtractor, zero cloud video</a:t>
            </a:r>
          </a:p>
          <a:p>
            <a:pPr>
              <a:defRPr sz="200"/>
            </a:pP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Machine Learning: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  Scikit-learn 1.4 (RandomForest Classifier, GradientBoosting Regressor)</a:t>
            </a:r>
          </a:p>
          <a:p>
            <a:pPr>
              <a:defRPr sz="200"/>
            </a:pP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Frontend Web Radar: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  React 18, TypeScript, HTML5 Canvas 3D Isometric Engine, Vite</a:t>
            </a:r>
          </a:p>
          <a:p>
            <a:pPr>
              <a:defRPr sz="200"/>
            </a:pP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Mobile Passenger App: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  Flutter 3.x, Riverpod, Dio, WebSockets, English/Hindi localization</a:t>
            </a:r>
          </a:p>
          <a:p>
            <a:pPr>
              <a:defRPr sz="200"/>
            </a:pPr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Deployment &amp; Telemetry: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  Docker Compose, Mosquitto MQTT, TimescaleDB / SQLite WAL, Pytest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